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534" r:id="rId3"/>
    <p:sldId id="533" r:id="rId4"/>
    <p:sldId id="526" r:id="rId5"/>
    <p:sldId id="527" r:id="rId6"/>
    <p:sldId id="538" r:id="rId7"/>
    <p:sldId id="528" r:id="rId8"/>
    <p:sldId id="537" r:id="rId9"/>
    <p:sldId id="536" r:id="rId10"/>
    <p:sldId id="540" r:id="rId11"/>
    <p:sldId id="530" r:id="rId12"/>
    <p:sldId id="539" r:id="rId13"/>
    <p:sldId id="53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132"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itha Sri Prathipati" userId="e113d98eb5100274" providerId="LiveId" clId="{374FEA9E-BC46-4E5E-9CAE-6416E31927A0}"/>
    <pc:docChg chg="modSld">
      <pc:chgData name="Vinitha Sri Prathipati" userId="e113d98eb5100274" providerId="LiveId" clId="{374FEA9E-BC46-4E5E-9CAE-6416E31927A0}" dt="2025-10-18T05:29:27.350" v="84" actId="20577"/>
      <pc:docMkLst>
        <pc:docMk/>
      </pc:docMkLst>
      <pc:sldChg chg="modSp mod">
        <pc:chgData name="Vinitha Sri Prathipati" userId="e113d98eb5100274" providerId="LiveId" clId="{374FEA9E-BC46-4E5E-9CAE-6416E31927A0}" dt="2025-10-18T05:29:27.350" v="84" actId="20577"/>
        <pc:sldMkLst>
          <pc:docMk/>
          <pc:sldMk cId="2623011671" sldId="256"/>
        </pc:sldMkLst>
        <pc:spChg chg="mod">
          <ac:chgData name="Vinitha Sri Prathipati" userId="e113d98eb5100274" providerId="LiveId" clId="{374FEA9E-BC46-4E5E-9CAE-6416E31927A0}" dt="2025-10-18T05:28:34.509" v="52" actId="20577"/>
          <ac:spMkLst>
            <pc:docMk/>
            <pc:sldMk cId="2623011671" sldId="256"/>
            <ac:spMk id="6" creationId="{0EA4331F-1F60-E2B9-DD75-9A736601B46B}"/>
          </ac:spMkLst>
        </pc:spChg>
        <pc:spChg chg="mod">
          <ac:chgData name="Vinitha Sri Prathipati" userId="e113d98eb5100274" providerId="LiveId" clId="{374FEA9E-BC46-4E5E-9CAE-6416E31927A0}" dt="2025-10-18T05:29:27.350" v="84" actId="20577"/>
          <ac:spMkLst>
            <pc:docMk/>
            <pc:sldMk cId="2623011671" sldId="256"/>
            <ac:spMk id="7" creationId="{66091DF3-57C5-26B0-C15A-F778056787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C1A4A-B00E-4B7D-BF09-02B5CB76B7AD}" type="datetimeFigureOut">
              <a:rPr lang="en-IN" smtClean="0"/>
              <a:t>18-10-2025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89F9E2-A6D2-43AF-8CF8-0FF719797EF6}" type="slidenum">
              <a:rPr lang="en-IN" smtClean="0"/>
              <a:t>‹#›</a:t>
            </a:fld>
            <a:endParaRPr lang="en-IN"/>
          </a:p>
        </p:txBody>
      </p:sp>
    </p:spTree>
    <p:extLst>
      <p:ext uri="{BB962C8B-B14F-4D97-AF65-F5344CB8AC3E}">
        <p14:creationId xmlns:p14="http://schemas.microsoft.com/office/powerpoint/2010/main" val="3708043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2D421-9CB0-9DD5-4827-BE7C1B942F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C3BA600-ADE1-E248-A00B-4E2E67868B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B2BAED-B227-4C91-99E3-CB0B340A0CC1}"/>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5" name="Footer Placeholder 4">
            <a:extLst>
              <a:ext uri="{FF2B5EF4-FFF2-40B4-BE49-F238E27FC236}">
                <a16:creationId xmlns:a16="http://schemas.microsoft.com/office/drawing/2014/main" id="{72C0E218-B412-7C48-488A-0DD9D0AEDD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16561E-A10D-36D7-FA52-3E7CF8FC5A8F}"/>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40874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8D8E5-5896-0AEC-FBEB-40BD7C356B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259A8D-CF3F-F1B8-8144-8B1CBFA88E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56871-9F71-2709-D803-37D2CAD3D7E3}"/>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5" name="Footer Placeholder 4">
            <a:extLst>
              <a:ext uri="{FF2B5EF4-FFF2-40B4-BE49-F238E27FC236}">
                <a16:creationId xmlns:a16="http://schemas.microsoft.com/office/drawing/2014/main" id="{AB9D67F3-402B-ACD1-C571-59C8DDFD2F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3FEF1F-C9A6-7603-02B9-0B3B56552DC8}"/>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4201137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A5643-4BA3-C3C5-C402-9C823912A4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EBB8B1-23EB-447A-9CC6-7CA9EAAD5F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740CB7-B175-FF80-6BB9-A9D766936C89}"/>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5" name="Footer Placeholder 4">
            <a:extLst>
              <a:ext uri="{FF2B5EF4-FFF2-40B4-BE49-F238E27FC236}">
                <a16:creationId xmlns:a16="http://schemas.microsoft.com/office/drawing/2014/main" id="{31DD6576-C128-BEED-B48E-E2F7606241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805DC8-04F3-6116-87C1-28BF5CEA956A}"/>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1942155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E205-FF8C-4593-22B7-75135C3F48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54FD70-B59D-1D30-3726-5479C4C4DB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4DFA53-DCB9-DCA1-7828-478ED2413A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4D05AA-CA01-571B-982F-1A8AFE9BF757}"/>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6" name="Footer Placeholder 5">
            <a:extLst>
              <a:ext uri="{FF2B5EF4-FFF2-40B4-BE49-F238E27FC236}">
                <a16:creationId xmlns:a16="http://schemas.microsoft.com/office/drawing/2014/main" id="{42F2FAE0-A5F1-C5FF-5199-65A8F6C92C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ECFC18-890F-7C3A-DCE6-F27AE021E35D}"/>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3863894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B7AE4-6DA5-DC75-0927-AE550ADF92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2AF24F-A420-1B68-E9F5-751DBCCB1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B6F8FA-06DD-0011-BC7E-C509D2681C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C02CDE-E8DB-C0A5-0A36-73CB47BE8E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E8597-A8E3-4D1A-D426-A672D0D5C3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7E9C2E-9305-18F8-90D9-DC7A3C780216}"/>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8" name="Footer Placeholder 7">
            <a:extLst>
              <a:ext uri="{FF2B5EF4-FFF2-40B4-BE49-F238E27FC236}">
                <a16:creationId xmlns:a16="http://schemas.microsoft.com/office/drawing/2014/main" id="{5B9A2893-6B49-55B7-9ED7-1F67159FC6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BB8978-02C3-FF0C-DEF0-A44DB7901656}"/>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1941004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1E54-34D4-C953-A5B4-F1DE15908B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483F52-1704-9AB3-A2DC-6E6F31DE2550}"/>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4" name="Footer Placeholder 3">
            <a:extLst>
              <a:ext uri="{FF2B5EF4-FFF2-40B4-BE49-F238E27FC236}">
                <a16:creationId xmlns:a16="http://schemas.microsoft.com/office/drawing/2014/main" id="{598E834D-9EC0-CFEB-03E2-16148E47B8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BC1B16-FCFB-17CA-380F-D6A8E570BFE9}"/>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4169188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0591FF-BE8D-01D5-63E9-A5B383ADACE3}"/>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3" name="Footer Placeholder 2">
            <a:extLst>
              <a:ext uri="{FF2B5EF4-FFF2-40B4-BE49-F238E27FC236}">
                <a16:creationId xmlns:a16="http://schemas.microsoft.com/office/drawing/2014/main" id="{EC1D5A57-1421-E4AC-95FA-149310BF75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950262-BA6B-282A-494E-93A3F29A3DAF}"/>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173722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AD41E-E733-D0D1-F020-75FE071609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49108B-FFE2-7E2F-A5F3-82AB3ADB00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DC3C10-A848-CB5C-FC27-542C11CC2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58C68F-2AA7-568D-849E-D56998A02DB1}"/>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6" name="Footer Placeholder 5">
            <a:extLst>
              <a:ext uri="{FF2B5EF4-FFF2-40B4-BE49-F238E27FC236}">
                <a16:creationId xmlns:a16="http://schemas.microsoft.com/office/drawing/2014/main" id="{3EB1C44A-4EB9-0D82-7803-50CDEFC7A2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11E66B-1E7F-448C-F800-F53A86FF3B85}"/>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61403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F6B7-B9F0-06BF-F749-0C19A7F89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4DF52F-01C5-B741-4DBB-7E0A774B41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76A11B-AD6D-6CBE-04AE-4AD6D7253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EB8491-FF78-71E8-4904-999B48CBA1FD}"/>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6" name="Footer Placeholder 5">
            <a:extLst>
              <a:ext uri="{FF2B5EF4-FFF2-40B4-BE49-F238E27FC236}">
                <a16:creationId xmlns:a16="http://schemas.microsoft.com/office/drawing/2014/main" id="{29C36323-CF00-855B-E216-74E07ECA9A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71D315-2C8D-FC51-1D60-E19AF69CDC1C}"/>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1881119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099DF-6FE4-9892-9B7D-D39C8AB72E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660A94-5EA3-540D-C30E-780EDEC7CB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E0EFAB-840D-4691-6A48-D7EA5D627524}"/>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5" name="Footer Placeholder 4">
            <a:extLst>
              <a:ext uri="{FF2B5EF4-FFF2-40B4-BE49-F238E27FC236}">
                <a16:creationId xmlns:a16="http://schemas.microsoft.com/office/drawing/2014/main" id="{B4510A6A-502A-0CEF-8BEC-4B8D7630EE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FDDD04-E239-E70C-E337-E5248B3EE81F}"/>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53962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5979B-3DD5-FA16-942F-4B08D15103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84EFE4-3BA2-06D3-8A6D-F76837E86E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25BB2F-4D1E-5D31-6B77-8ADF4989D31D}"/>
              </a:ext>
            </a:extLst>
          </p:cNvPr>
          <p:cNvSpPr>
            <a:spLocks noGrp="1"/>
          </p:cNvSpPr>
          <p:nvPr>
            <p:ph type="dt" sz="half" idx="10"/>
          </p:nvPr>
        </p:nvSpPr>
        <p:spPr/>
        <p:txBody>
          <a:bodyPr/>
          <a:lstStyle/>
          <a:p>
            <a:fld id="{8CB6438E-07C0-4C40-B5A0-0F37E868AAC4}" type="datetimeFigureOut">
              <a:rPr lang="en-IN" smtClean="0"/>
              <a:t>18-10-2025</a:t>
            </a:fld>
            <a:endParaRPr lang="en-IN"/>
          </a:p>
        </p:txBody>
      </p:sp>
      <p:sp>
        <p:nvSpPr>
          <p:cNvPr id="5" name="Footer Placeholder 4">
            <a:extLst>
              <a:ext uri="{FF2B5EF4-FFF2-40B4-BE49-F238E27FC236}">
                <a16:creationId xmlns:a16="http://schemas.microsoft.com/office/drawing/2014/main" id="{D1A0D7D6-34C9-2C8B-DC80-2D1A6C8F5F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97E447-A32D-6339-28A2-31AC8E3C844C}"/>
              </a:ext>
            </a:extLst>
          </p:cNvPr>
          <p:cNvSpPr>
            <a:spLocks noGrp="1"/>
          </p:cNvSpPr>
          <p:nvPr>
            <p:ph type="sldNum" sz="quarter" idx="12"/>
          </p:nvPr>
        </p:nvSpPr>
        <p:spPr/>
        <p:txBody>
          <a:bodyPr/>
          <a:lstStyle/>
          <a:p>
            <a:fld id="{89806DEE-F656-4CC8-AC1E-7A90081B0A80}" type="slidenum">
              <a:rPr lang="en-IN" smtClean="0"/>
              <a:t>‹#›</a:t>
            </a:fld>
            <a:endParaRPr lang="en-IN"/>
          </a:p>
        </p:txBody>
      </p:sp>
    </p:spTree>
    <p:extLst>
      <p:ext uri="{BB962C8B-B14F-4D97-AF65-F5344CB8AC3E}">
        <p14:creationId xmlns:p14="http://schemas.microsoft.com/office/powerpoint/2010/main" val="178527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5658687-0CEA-4055-A28D-6A7B0ACD688F}" type="datetime1">
              <a:rPr lang="en-IN" smtClean="0"/>
              <a:pPr/>
              <a:t>18-10-2025</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a:t>DL&amp;CO                                                                G.LAVARAJU, Associate Professor, CSE</a:t>
            </a:r>
            <a:endParaRPr lang="en-US" dirty="0"/>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1276411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D5B55B-4560-2FB6-595F-FF0D7A37E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AE14A4-3A1A-989D-266B-FD63EDC161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D98037-367C-82C3-2BE6-92302B6898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B6438E-07C0-4C40-B5A0-0F37E868AAC4}" type="datetimeFigureOut">
              <a:rPr lang="en-IN" smtClean="0"/>
              <a:t>18-10-2025</a:t>
            </a:fld>
            <a:endParaRPr lang="en-IN"/>
          </a:p>
        </p:txBody>
      </p:sp>
      <p:sp>
        <p:nvSpPr>
          <p:cNvPr id="5" name="Footer Placeholder 4">
            <a:extLst>
              <a:ext uri="{FF2B5EF4-FFF2-40B4-BE49-F238E27FC236}">
                <a16:creationId xmlns:a16="http://schemas.microsoft.com/office/drawing/2014/main" id="{CD4455B4-6EF1-BAC4-EDB8-3647454678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6ACBB97-5DF8-A1D9-7343-EC13050697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806DEE-F656-4CC8-AC1E-7A90081B0A80}" type="slidenum">
              <a:rPr lang="en-IN" smtClean="0"/>
              <a:t>‹#›</a:t>
            </a:fld>
            <a:endParaRPr lang="en-IN"/>
          </a:p>
        </p:txBody>
      </p:sp>
    </p:spTree>
    <p:extLst>
      <p:ext uri="{BB962C8B-B14F-4D97-AF65-F5344CB8AC3E}">
        <p14:creationId xmlns:p14="http://schemas.microsoft.com/office/powerpoint/2010/main" val="239936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ABD22F-21B6-D5A6-363D-653BE3AB8C66}"/>
              </a:ext>
            </a:extLst>
          </p:cNvPr>
          <p:cNvSpPr txBox="1">
            <a:spLocks/>
          </p:cNvSpPr>
          <p:nvPr/>
        </p:nvSpPr>
        <p:spPr>
          <a:xfrm>
            <a:off x="1055440" y="1700808"/>
            <a:ext cx="10696612" cy="1944216"/>
          </a:xfrm>
          <a:prstGeom prst="rect">
            <a:avLst/>
          </a:prstGeom>
        </p:spPr>
        <p:txBody>
          <a:bodyPr vert="horz" lIns="91440" tIns="45720" rIns="91440" bIns="45720" rtlCol="0" anchor="b">
            <a:noAutofit/>
          </a:bodyPr>
          <a:lstStyle/>
          <a:p>
            <a:pPr lvl="0" algn="ctr" defTabSz="914400">
              <a:lnSpc>
                <a:spcPct val="90000"/>
              </a:lnSpc>
              <a:spcBef>
                <a:spcPct val="0"/>
              </a:spcBef>
              <a:defRPr/>
            </a:pPr>
            <a:endParaRPr lang="en-US" sz="4000" dirty="0">
              <a:solidFill>
                <a:srgbClr val="00B050"/>
              </a:solidFill>
              <a:latin typeface="Arial Rounded MT Bold" panose="020F0704030504030204" pitchFamily="34" charset="0"/>
              <a:ea typeface="Source Sans Pro" panose="020B0503030403020204" pitchFamily="34" charset="0"/>
              <a:cs typeface="+mj-cs"/>
            </a:endParaRPr>
          </a:p>
        </p:txBody>
      </p:sp>
      <p:sp>
        <p:nvSpPr>
          <p:cNvPr id="6" name="Rectangle 5">
            <a:extLst>
              <a:ext uri="{FF2B5EF4-FFF2-40B4-BE49-F238E27FC236}">
                <a16:creationId xmlns:a16="http://schemas.microsoft.com/office/drawing/2014/main" id="{0EA4331F-1F60-E2B9-DD75-9A736601B46B}"/>
              </a:ext>
            </a:extLst>
          </p:cNvPr>
          <p:cNvSpPr/>
          <p:nvPr/>
        </p:nvSpPr>
        <p:spPr>
          <a:xfrm>
            <a:off x="493694" y="4740625"/>
            <a:ext cx="6081227" cy="3133037"/>
          </a:xfrm>
          <a:prstGeom prst="rect">
            <a:avLst/>
          </a:prstGeom>
        </p:spPr>
        <p:txBody>
          <a:bodyPr wrap="square" lIns="91440" tIns="45720" rIns="91440" bIns="45720" anchor="t">
            <a:spAutoFit/>
          </a:bodyPr>
          <a:lstStyle/>
          <a:p>
            <a:pPr>
              <a:lnSpc>
                <a:spcPct val="150000"/>
              </a:lnSpc>
            </a:pPr>
            <a:r>
              <a:rPr lang="en-US" sz="2400" b="1" dirty="0">
                <a:latin typeface="Times New Roman"/>
                <a:cs typeface="Times New Roman"/>
              </a:rPr>
              <a:t>Presented by:</a:t>
            </a:r>
            <a:r>
              <a:rPr lang="en-US" sz="2400" dirty="0">
                <a:latin typeface="Times New Roman"/>
                <a:cs typeface="Times New Roman"/>
              </a:rPr>
              <a:t>  </a:t>
            </a:r>
          </a:p>
          <a:p>
            <a:pPr marL="285750" indent="-285750">
              <a:lnSpc>
                <a:spcPct val="150000"/>
              </a:lnSpc>
              <a:buFont typeface="Arial" panose="020B0604020202020204" pitchFamily="34" charset="0"/>
              <a:buChar char="•"/>
            </a:pPr>
            <a:r>
              <a:rPr lang="en-US" sz="2200" dirty="0">
                <a:latin typeface="Calibri"/>
                <a:ea typeface="Calibri"/>
                <a:cs typeface="Calibri"/>
              </a:rPr>
              <a:t>BOKKA PRAVEEN KUMAR</a:t>
            </a:r>
          </a:p>
          <a:p>
            <a:pPr marL="285750" indent="-285750">
              <a:lnSpc>
                <a:spcPct val="150000"/>
              </a:lnSpc>
              <a:buFont typeface="Arial" panose="020B0604020202020204" pitchFamily="34" charset="0"/>
              <a:buChar char="•"/>
            </a:pPr>
            <a:r>
              <a:rPr lang="en-US" sz="2200" dirty="0">
                <a:latin typeface="Calibri"/>
                <a:ea typeface="Calibri"/>
                <a:cs typeface="Calibri"/>
              </a:rPr>
              <a:t>VINITHA SRI PRATHIPATI</a:t>
            </a:r>
          </a:p>
          <a:p>
            <a:pPr marL="285750" indent="-285750">
              <a:lnSpc>
                <a:spcPct val="150000"/>
              </a:lnSpc>
              <a:buFont typeface="Arial" panose="020B0604020202020204" pitchFamily="34" charset="0"/>
              <a:buChar char="•"/>
            </a:pPr>
            <a:endParaRPr lang="en-US" sz="2200" dirty="0">
              <a:latin typeface="Calibri"/>
              <a:ea typeface="Calibri"/>
              <a:cs typeface="Calibri"/>
            </a:endParaRPr>
          </a:p>
          <a:p>
            <a:pPr marL="285750" indent="-285750">
              <a:lnSpc>
                <a:spcPct val="150000"/>
              </a:lnSpc>
              <a:buFont typeface="Arial,Sans-Serif" panose="020B0604020202020204" pitchFamily="34" charset="0"/>
              <a:buChar char="•"/>
            </a:pPr>
            <a:endParaRPr lang="en-US" sz="2200" dirty="0">
              <a:latin typeface="Calibri"/>
              <a:ea typeface="Calibri"/>
              <a:cs typeface="Calibri"/>
            </a:endParaRPr>
          </a:p>
          <a:p>
            <a:pPr marL="285750" indent="-285750">
              <a:lnSpc>
                <a:spcPct val="150000"/>
              </a:lnSpc>
              <a:buFont typeface="Arial" panose="020B0604020202020204" pitchFamily="34" charset="0"/>
              <a:buChar char="•"/>
            </a:pPr>
            <a:endParaRPr lang="en-US" sz="2200" dirty="0">
              <a:latin typeface="Calibri"/>
              <a:ea typeface="Calibri"/>
              <a:cs typeface="Calibri"/>
            </a:endParaRPr>
          </a:p>
        </p:txBody>
      </p:sp>
      <p:sp>
        <p:nvSpPr>
          <p:cNvPr id="7" name="Title 1">
            <a:extLst>
              <a:ext uri="{FF2B5EF4-FFF2-40B4-BE49-F238E27FC236}">
                <a16:creationId xmlns:a16="http://schemas.microsoft.com/office/drawing/2014/main" id="{66091DF3-57C5-26B0-C15A-F77805678791}"/>
              </a:ext>
            </a:extLst>
          </p:cNvPr>
          <p:cNvSpPr txBox="1">
            <a:spLocks/>
          </p:cNvSpPr>
          <p:nvPr/>
        </p:nvSpPr>
        <p:spPr>
          <a:xfrm>
            <a:off x="493694" y="1702659"/>
            <a:ext cx="10696612" cy="857663"/>
          </a:xfrm>
          <a:prstGeom prst="rect">
            <a:avLst/>
          </a:prstGeom>
        </p:spPr>
        <p:txBody>
          <a:bodyPr vert="horz" lIns="91440" tIns="45720" rIns="91440" bIns="45720" rtlCol="0" anchor="b">
            <a:noAutofit/>
          </a:bodyPr>
          <a:lstStyle/>
          <a:p>
            <a:pPr lvl="0" algn="ctr" defTabSz="914400">
              <a:lnSpc>
                <a:spcPct val="90000"/>
              </a:lnSpc>
              <a:spcBef>
                <a:spcPct val="0"/>
              </a:spcBef>
              <a:defRPr/>
            </a:pPr>
            <a:r>
              <a:rPr lang="en-US" sz="4000" dirty="0">
                <a:solidFill>
                  <a:srgbClr val="FF0000"/>
                </a:solidFill>
                <a:latin typeface="Abadi" panose="020B0604020104020204" pitchFamily="34" charset="0"/>
                <a:ea typeface="+mj-ea"/>
                <a:cs typeface="+mj-cs"/>
              </a:rPr>
              <a:t>HOSPITALITY MANAGEMENT SYSTEM</a:t>
            </a:r>
          </a:p>
        </p:txBody>
      </p:sp>
      <p:pic>
        <p:nvPicPr>
          <p:cNvPr id="10" name="Picture 9">
            <a:extLst>
              <a:ext uri="{FF2B5EF4-FFF2-40B4-BE49-F238E27FC236}">
                <a16:creationId xmlns:a16="http://schemas.microsoft.com/office/drawing/2014/main" id="{45E9B6DE-6DD2-8BB9-5335-619981C26980}"/>
              </a:ext>
            </a:extLst>
          </p:cNvPr>
          <p:cNvPicPr>
            <a:picLocks noChangeAspect="1"/>
          </p:cNvPicPr>
          <p:nvPr/>
        </p:nvPicPr>
        <p:blipFill>
          <a:blip r:embed="rId2"/>
          <a:stretch>
            <a:fillRect/>
          </a:stretch>
        </p:blipFill>
        <p:spPr>
          <a:xfrm>
            <a:off x="2133047" y="133256"/>
            <a:ext cx="7925906" cy="1133633"/>
          </a:xfrm>
          <a:prstGeom prst="rect">
            <a:avLst/>
          </a:prstGeom>
        </p:spPr>
      </p:pic>
    </p:spTree>
    <p:extLst>
      <p:ext uri="{BB962C8B-B14F-4D97-AF65-F5344CB8AC3E}">
        <p14:creationId xmlns:p14="http://schemas.microsoft.com/office/powerpoint/2010/main" val="262301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9FC2C-DABE-98CC-0C4D-A59C32FEC2F0}"/>
              </a:ext>
            </a:extLst>
          </p:cNvPr>
          <p:cNvSpPr>
            <a:spLocks noGrp="1"/>
          </p:cNvSpPr>
          <p:nvPr>
            <p:ph type="title"/>
          </p:nvPr>
        </p:nvSpPr>
        <p:spPr>
          <a:xfrm>
            <a:off x="524436" y="174625"/>
            <a:ext cx="10829364" cy="1079033"/>
          </a:xfrm>
        </p:spPr>
        <p:txBody>
          <a:bodyPr>
            <a:normAutofit fontScale="90000"/>
          </a:bodyPr>
          <a:lstStyle/>
          <a:p>
            <a:br>
              <a:rPr lang="en-US" sz="3200" b="1" dirty="0">
                <a:latin typeface="Times New Roman"/>
                <a:cs typeface="Times New Roman"/>
              </a:rPr>
            </a:br>
            <a:br>
              <a:rPr lang="en-US" sz="3200" b="1" dirty="0">
                <a:latin typeface="Times New Roman"/>
                <a:cs typeface="Times New Roman"/>
              </a:rPr>
            </a:br>
            <a:endParaRPr lang="en-US" sz="3200" b="1">
              <a:latin typeface="Times New Roman"/>
              <a:cs typeface="Times New Roman"/>
            </a:endParaRPr>
          </a:p>
          <a:p>
            <a:endParaRPr lang="en-US" dirty="0"/>
          </a:p>
        </p:txBody>
      </p:sp>
      <p:sp>
        <p:nvSpPr>
          <p:cNvPr id="3" name="Content Placeholder 2">
            <a:extLst>
              <a:ext uri="{FF2B5EF4-FFF2-40B4-BE49-F238E27FC236}">
                <a16:creationId xmlns:a16="http://schemas.microsoft.com/office/drawing/2014/main" id="{EB1449BD-7783-623C-1F8D-00FFE5BAA9CE}"/>
              </a:ext>
            </a:extLst>
          </p:cNvPr>
          <p:cNvSpPr>
            <a:spLocks noGrp="1"/>
          </p:cNvSpPr>
          <p:nvPr>
            <p:ph idx="1"/>
          </p:nvPr>
        </p:nvSpPr>
        <p:spPr>
          <a:xfrm>
            <a:off x="524435" y="805543"/>
            <a:ext cx="10515600" cy="5617028"/>
          </a:xfrm>
        </p:spPr>
        <p:txBody>
          <a:bodyPr vert="horz" lIns="91440" tIns="45720" rIns="91440" bIns="45720" rtlCol="0" anchor="t">
            <a:normAutofit fontScale="77500" lnSpcReduction="20000"/>
          </a:bodyPr>
          <a:lstStyle/>
          <a:p>
            <a:pPr marL="0" indent="0">
              <a:buNone/>
            </a:pPr>
            <a:r>
              <a:rPr lang="en-US" sz="3800" b="1" dirty="0">
                <a:latin typeface="Times New Roman" panose="02020603050405020304" pitchFamily="18" charset="0"/>
                <a:cs typeface="Times New Roman" panose="02020603050405020304" pitchFamily="18" charset="0"/>
              </a:rPr>
              <a:t>Problem Statement:</a:t>
            </a:r>
          </a:p>
          <a:p>
            <a:pPr marL="0" indent="0">
              <a:lnSpc>
                <a:spcPct val="120000"/>
              </a:lnSpc>
              <a:buNone/>
            </a:pPr>
            <a:r>
              <a:rPr lang="en-US" dirty="0">
                <a:latin typeface="Calibri" panose="020F0502020204030204" pitchFamily="34" charset="0"/>
                <a:ea typeface="Calibri" panose="020F0502020204030204" pitchFamily="34" charset="0"/>
                <a:cs typeface="Calibri" panose="020F0502020204030204" pitchFamily="34" charset="0"/>
              </a:rPr>
              <a:t>The current hospitality service process is mostly manual, slow, and uncoordinated. Customers often face delays in getting their requests or complaints addressed, and there is limited tracking of ongoing services. Staff members spend considerable time managing service records, assigning tasks, and following up on issues — all of which can lead to inefficiencies and inconsistent guest experiences.</a:t>
            </a:r>
          </a:p>
          <a:p>
            <a:pPr marL="0" indent="0">
              <a:buNone/>
            </a:pPr>
            <a:endParaRPr lang="en-US" sz="3800" dirty="0">
              <a:latin typeface="Times New Roman" panose="02020603050405020304" pitchFamily="18" charset="0"/>
              <a:cs typeface="Times New Roman" panose="02020603050405020304" pitchFamily="18" charset="0"/>
            </a:endParaRPr>
          </a:p>
          <a:p>
            <a:pPr marL="0" indent="0">
              <a:buNone/>
            </a:pPr>
            <a:r>
              <a:rPr lang="en-US" sz="3800" b="1" dirty="0">
                <a:latin typeface="Times New Roman" panose="02020603050405020304" pitchFamily="18" charset="0"/>
                <a:cs typeface="Times New Roman" panose="02020603050405020304" pitchFamily="18" charset="0"/>
              </a:rPr>
              <a:t>Proposed Solution:</a:t>
            </a:r>
          </a:p>
          <a:p>
            <a:pPr marL="0" indent="0">
              <a:lnSpc>
                <a:spcPct val="120000"/>
              </a:lnSpc>
              <a:buNone/>
            </a:pPr>
            <a:r>
              <a:rPr lang="en-US" dirty="0">
                <a:latin typeface="Calibri" panose="020F0502020204030204" pitchFamily="34" charset="0"/>
                <a:ea typeface="Calibri" panose="020F0502020204030204" pitchFamily="34" charset="0"/>
                <a:cs typeface="Calibri" panose="020F0502020204030204" pitchFamily="34" charset="0"/>
              </a:rPr>
              <a:t>The </a:t>
            </a:r>
            <a:r>
              <a:rPr lang="en-US" b="1" dirty="0">
                <a:latin typeface="Calibri" panose="020F0502020204030204" pitchFamily="34" charset="0"/>
                <a:ea typeface="Calibri" panose="020F0502020204030204" pitchFamily="34" charset="0"/>
                <a:cs typeface="Calibri" panose="020F0502020204030204" pitchFamily="34" charset="0"/>
              </a:rPr>
              <a:t>Hospitality Management System</a:t>
            </a:r>
            <a:r>
              <a:rPr lang="en-US" dirty="0">
                <a:latin typeface="Calibri" panose="020F0502020204030204" pitchFamily="34" charset="0"/>
                <a:ea typeface="Calibri" panose="020F0502020204030204" pitchFamily="34" charset="0"/>
                <a:cs typeface="Calibri" panose="020F0502020204030204" pitchFamily="34" charset="0"/>
              </a:rPr>
              <a:t> automates service request registration, complaint handling, task routing, and status tracking. It streamlines the entire hospitality workflow by allowing receptionists to log requests, automatically route them to the appropriate team based on skills, monitor SLAs, and ensure timely completion. Developed using the </a:t>
            </a:r>
            <a:r>
              <a:rPr lang="en-US" b="1" dirty="0">
                <a:latin typeface="Calibri" panose="020F0502020204030204" pitchFamily="34" charset="0"/>
                <a:ea typeface="Calibri" panose="020F0502020204030204" pitchFamily="34" charset="0"/>
                <a:cs typeface="Calibri" panose="020F0502020204030204" pitchFamily="34" charset="0"/>
              </a:rPr>
              <a:t>Pega platform</a:t>
            </a:r>
            <a:r>
              <a:rPr lang="en-US" dirty="0">
                <a:latin typeface="Calibri" panose="020F0502020204030204" pitchFamily="34" charset="0"/>
                <a:ea typeface="Calibri" panose="020F0502020204030204" pitchFamily="34" charset="0"/>
                <a:cs typeface="Calibri" panose="020F0502020204030204" pitchFamily="34" charset="0"/>
              </a:rPr>
              <a:t>, the system enhances operational efficiency, reduces manual errors, and ensures faster response times for improved customer satisfaction.</a:t>
            </a:r>
          </a:p>
        </p:txBody>
      </p:sp>
    </p:spTree>
    <p:extLst>
      <p:ext uri="{BB962C8B-B14F-4D97-AF65-F5344CB8AC3E}">
        <p14:creationId xmlns:p14="http://schemas.microsoft.com/office/powerpoint/2010/main" val="3557434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6039B-7D6E-7D4D-0DB5-D82CE5E78861}"/>
              </a:ext>
            </a:extLst>
          </p:cNvPr>
          <p:cNvSpPr>
            <a:spLocks noGrp="1"/>
          </p:cNvSpPr>
          <p:nvPr>
            <p:ph type="title"/>
          </p:nvPr>
        </p:nvSpPr>
        <p:spPr>
          <a:xfrm>
            <a:off x="838200" y="342689"/>
            <a:ext cx="10515600" cy="888533"/>
          </a:xfrm>
        </p:spPr>
        <p:txBody>
          <a:bodyPr>
            <a:normAutofit/>
          </a:bodyPr>
          <a:lstStyle/>
          <a:p>
            <a:r>
              <a:rPr lang="en-US" sz="3200" b="1" dirty="0">
                <a:latin typeface="Times New Roman"/>
                <a:cs typeface="Times New Roman"/>
              </a:rPr>
              <a:t>Objectives :</a:t>
            </a:r>
          </a:p>
        </p:txBody>
      </p:sp>
      <p:sp>
        <p:nvSpPr>
          <p:cNvPr id="6" name="Rectangle 3">
            <a:extLst>
              <a:ext uri="{FF2B5EF4-FFF2-40B4-BE49-F238E27FC236}">
                <a16:creationId xmlns:a16="http://schemas.microsoft.com/office/drawing/2014/main" id="{7B15C828-7BE0-DC4B-80F1-C9E3AC3C0924}"/>
              </a:ext>
            </a:extLst>
          </p:cNvPr>
          <p:cNvSpPr>
            <a:spLocks noGrp="1" noChangeArrowheads="1"/>
          </p:cNvSpPr>
          <p:nvPr>
            <p:ph idx="1"/>
          </p:nvPr>
        </p:nvSpPr>
        <p:spPr bwMode="auto">
          <a:xfrm>
            <a:off x="838200" y="1231222"/>
            <a:ext cx="10927814" cy="500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Provide a single platform for receptionists to record customer service requests and complaints.</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Help trip managers and service executives manage and track all customer interactions efficiently.</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Enable real-time updates and clear tracking of service and complaint status.</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Offer reports and dashboards for management to monitor service quality and resolution timelines.</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Reduce manual work by automating the entire hospitality workflow through case management and SLA tracking.</a:t>
            </a:r>
          </a:p>
        </p:txBody>
      </p:sp>
    </p:spTree>
    <p:extLst>
      <p:ext uri="{BB962C8B-B14F-4D97-AF65-F5344CB8AC3E}">
        <p14:creationId xmlns:p14="http://schemas.microsoft.com/office/powerpoint/2010/main" val="1095228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94B633-63E4-51DB-6343-D6AB0BBEC240}"/>
              </a:ext>
            </a:extLst>
          </p:cNvPr>
          <p:cNvSpPr>
            <a:spLocks noGrp="1"/>
          </p:cNvSpPr>
          <p:nvPr>
            <p:ph idx="1"/>
          </p:nvPr>
        </p:nvSpPr>
        <p:spPr>
          <a:xfrm>
            <a:off x="869085" y="1210959"/>
            <a:ext cx="10515600" cy="650892"/>
          </a:xfrm>
        </p:spPr>
        <p:txBody>
          <a:bodyPr vert="horz" lIns="91440" tIns="45720" rIns="91440" bIns="45720" rtlCol="0" anchor="t">
            <a:normAutofit/>
          </a:bodyPr>
          <a:lstStyle/>
          <a:p>
            <a:pPr marL="0" indent="0">
              <a:buNone/>
            </a:pPr>
            <a:r>
              <a:rPr lang="en-US" sz="3200" b="1" dirty="0">
                <a:latin typeface="Times New Roman"/>
                <a:cs typeface="Times New Roman"/>
              </a:rPr>
              <a:t> Scope</a:t>
            </a:r>
            <a:r>
              <a:rPr lang="en-US" sz="3200" dirty="0">
                <a:latin typeface="Times New Roman"/>
                <a:cs typeface="Times New Roman"/>
              </a:rPr>
              <a:t> :</a:t>
            </a:r>
          </a:p>
          <a:p>
            <a:pPr marL="0" indent="0">
              <a:buNone/>
            </a:pPr>
            <a:endParaRPr lang="en-US" sz="3200" dirty="0"/>
          </a:p>
          <a:p>
            <a:pPr marL="0" indent="0">
              <a:buNone/>
            </a:pPr>
            <a:endParaRPr lang="en-US" sz="3200" dirty="0"/>
          </a:p>
        </p:txBody>
      </p:sp>
      <p:sp>
        <p:nvSpPr>
          <p:cNvPr id="8" name="Rectangle 5">
            <a:extLst>
              <a:ext uri="{FF2B5EF4-FFF2-40B4-BE49-F238E27FC236}">
                <a16:creationId xmlns:a16="http://schemas.microsoft.com/office/drawing/2014/main" id="{AC5BE38B-555C-3B2D-181B-176DC1A3F409}"/>
              </a:ext>
            </a:extLst>
          </p:cNvPr>
          <p:cNvSpPr>
            <a:spLocks noChangeArrowheads="1"/>
          </p:cNvSpPr>
          <p:nvPr/>
        </p:nvSpPr>
        <p:spPr bwMode="auto">
          <a:xfrm>
            <a:off x="738130" y="1814959"/>
            <a:ext cx="11005851" cy="446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Register and manage customer details and service records.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Log and track service requests and complaints efficiently.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Monitor the status of each request (Pending, In Progress, Completed, or Resolved).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Send real-time notifications and updates to customers upon completion of services.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Automatically route service requests or complaints to the appropriate team based on skill and role.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Track service and complaint performance statistics and generate detailed reports for management review.</a:t>
            </a:r>
          </a:p>
        </p:txBody>
      </p:sp>
    </p:spTree>
    <p:extLst>
      <p:ext uri="{BB962C8B-B14F-4D97-AF65-F5344CB8AC3E}">
        <p14:creationId xmlns:p14="http://schemas.microsoft.com/office/powerpoint/2010/main" val="1914400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DB592C-2B6B-69C6-BAC5-C3490E4AAF49}"/>
              </a:ext>
            </a:extLst>
          </p:cNvPr>
          <p:cNvSpPr>
            <a:spLocks noGrp="1"/>
          </p:cNvSpPr>
          <p:nvPr>
            <p:ph idx="1"/>
          </p:nvPr>
        </p:nvSpPr>
        <p:spPr>
          <a:xfrm>
            <a:off x="869085" y="1268362"/>
            <a:ext cx="10515600" cy="4824934"/>
          </a:xfrm>
        </p:spPr>
        <p:txBody>
          <a:bodyPr vert="horz" lIns="91440" tIns="45720" rIns="91440" bIns="45720" rtlCol="0" anchor="t">
            <a:normAutofit/>
          </a:bodyPr>
          <a:lstStyle/>
          <a:p>
            <a:pPr marL="0" indent="0">
              <a:buNone/>
            </a:pPr>
            <a:r>
              <a:rPr lang="en-US" sz="3200" b="1" dirty="0">
                <a:latin typeface="Times New Roman"/>
                <a:cs typeface="Times New Roman"/>
              </a:rPr>
              <a:t>Tools </a:t>
            </a:r>
            <a:r>
              <a:rPr lang="en-US" sz="3200" b="1">
                <a:latin typeface="Times New Roman"/>
                <a:cs typeface="Times New Roman"/>
              </a:rPr>
              <a:t>Used :</a:t>
            </a:r>
            <a:endParaRPr lang="en-US" sz="3200" b="1" dirty="0">
              <a:latin typeface="Times New Roman"/>
              <a:cs typeface="Times New Roman"/>
            </a:endParaRPr>
          </a:p>
          <a:p>
            <a:pPr>
              <a:buFont typeface="Wingdings" panose="05000000000000000000" pitchFamily="2" charset="2"/>
              <a:buChar char="Ø"/>
            </a:pPr>
            <a:endParaRPr lang="en-US" b="1">
              <a:latin typeface="Times New Roman" panose="02020603050405020304" pitchFamily="18" charset="0"/>
              <a:cs typeface="Times New Roman" panose="02020603050405020304" pitchFamily="18"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atin typeface="Times New Roman" panose="02020603050405020304" pitchFamily="18" charset="0"/>
              <a:ea typeface="Calibri" panose="020F0502020204030204" pitchFamily="34"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F2BF16F-DE26-F47A-0D14-2C4DA4534AC6}"/>
              </a:ext>
            </a:extLst>
          </p:cNvPr>
          <p:cNvGraphicFramePr>
            <a:graphicFrameLocks noGrp="1"/>
          </p:cNvGraphicFramePr>
          <p:nvPr>
            <p:extLst>
              <p:ext uri="{D42A27DB-BD31-4B8C-83A1-F6EECF244321}">
                <p14:modId xmlns:p14="http://schemas.microsoft.com/office/powerpoint/2010/main" val="946598834"/>
              </p:ext>
            </p:extLst>
          </p:nvPr>
        </p:nvGraphicFramePr>
        <p:xfrm>
          <a:off x="869085" y="1905914"/>
          <a:ext cx="10742693" cy="4581986"/>
        </p:xfrm>
        <a:graphic>
          <a:graphicData uri="http://schemas.openxmlformats.org/drawingml/2006/table">
            <a:tbl>
              <a:tblPr firstRow="1" bandRow="1">
                <a:tableStyleId>{5C22544A-7EE6-4342-B048-85BDC9FD1C3A}</a:tableStyleId>
              </a:tblPr>
              <a:tblGrid>
                <a:gridCol w="5319804">
                  <a:extLst>
                    <a:ext uri="{9D8B030D-6E8A-4147-A177-3AD203B41FA5}">
                      <a16:colId xmlns:a16="http://schemas.microsoft.com/office/drawing/2014/main" val="2721135601"/>
                    </a:ext>
                  </a:extLst>
                </a:gridCol>
                <a:gridCol w="5422889">
                  <a:extLst>
                    <a:ext uri="{9D8B030D-6E8A-4147-A177-3AD203B41FA5}">
                      <a16:colId xmlns:a16="http://schemas.microsoft.com/office/drawing/2014/main" val="2102369936"/>
                    </a:ext>
                  </a:extLst>
                </a:gridCol>
              </a:tblGrid>
              <a:tr h="599353">
                <a:tc>
                  <a:txBody>
                    <a:bodyPr/>
                    <a:lstStyle/>
                    <a:p>
                      <a:pPr lvl="0" algn="ctr">
                        <a:buNone/>
                      </a:pPr>
                      <a:r>
                        <a:rPr lang="en-US" sz="3200" b="1" i="0" u="none" strike="noStrike" baseline="0" noProof="0" dirty="0">
                          <a:solidFill>
                            <a:srgbClr val="FFFFFF"/>
                          </a:solidFill>
                          <a:latin typeface="Calibri" panose="020F0502020204030204" pitchFamily="34" charset="0"/>
                          <a:ea typeface="Calibri" panose="020F0502020204030204" pitchFamily="34" charset="0"/>
                          <a:cs typeface="Calibri" panose="020F0502020204030204" pitchFamily="34" charset="0"/>
                        </a:rPr>
                        <a:t>Tool</a:t>
                      </a:r>
                      <a:endParaRPr lang="en-US" sz="3200" b="1"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Usage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76476803"/>
                  </a:ext>
                </a:extLst>
              </a:tr>
              <a:tr h="605208">
                <a:tc>
                  <a:txBody>
                    <a:bodyPr/>
                    <a:lstStyle/>
                    <a:p>
                      <a:pPr lvl="0">
                        <a:buNone/>
                      </a:pPr>
                      <a:r>
                        <a:rPr lang="en-US" sz="1800" b="0" i="0" u="none" strike="noStrike" baseline="0" noProof="0" dirty="0">
                          <a:solidFill>
                            <a:srgbClr val="000000"/>
                          </a:solidFill>
                          <a:latin typeface="Calibri" panose="020F0502020204030204" pitchFamily="34" charset="0"/>
                          <a:ea typeface="Calibri" panose="020F0502020204030204" pitchFamily="34" charset="0"/>
                          <a:cs typeface="Calibri" panose="020F0502020204030204" pitchFamily="34" charset="0"/>
                        </a:rPr>
                        <a:t>Pega Platform</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lvl="0">
                        <a:buNone/>
                      </a:pPr>
                      <a:r>
                        <a:rPr lang="en-US" sz="1800" b="0" i="0" u="none" strike="noStrike" noProof="0" dirty="0">
                          <a:latin typeface="Calibri" panose="020F0502020204030204" pitchFamily="34" charset="0"/>
                          <a:ea typeface="Calibri" panose="020F0502020204030204" pitchFamily="34" charset="0"/>
                          <a:cs typeface="Calibri" panose="020F0502020204030204" pitchFamily="34" charset="0"/>
                        </a:rPr>
                        <a:t>To build the entire application and manage the flow of processes.</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197530117"/>
                  </a:ext>
                </a:extLst>
              </a:tr>
              <a:tr h="599353">
                <a:tc>
                  <a:txBody>
                    <a:bodyPr/>
                    <a:lstStyle/>
                    <a:p>
                      <a:pPr lvl="0">
                        <a:buNone/>
                      </a:pPr>
                      <a:r>
                        <a:rPr lang="en-US" sz="1800" b="0" i="0" u="none" strike="noStrike" noProof="0" dirty="0">
                          <a:latin typeface="Calibri" panose="020F0502020204030204" pitchFamily="34" charset="0"/>
                          <a:ea typeface="Calibri" panose="020F0502020204030204" pitchFamily="34" charset="0"/>
                          <a:cs typeface="Calibri" panose="020F0502020204030204" pitchFamily="34" charset="0"/>
                        </a:rPr>
                        <a:t>Pega Constellation</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lvl="0">
                        <a:buNone/>
                      </a:pPr>
                      <a:r>
                        <a:rPr lang="en-US" sz="1800" b="0" i="0" u="none" strike="noStrike" baseline="0" noProof="0" dirty="0">
                          <a:solidFill>
                            <a:srgbClr val="000000"/>
                          </a:solidFill>
                          <a:latin typeface="Calibri" panose="020F0502020204030204" pitchFamily="34" charset="0"/>
                          <a:ea typeface="Calibri" panose="020F0502020204030204" pitchFamily="34" charset="0"/>
                          <a:cs typeface="Calibri" panose="020F0502020204030204" pitchFamily="34" charset="0"/>
                        </a:rPr>
                        <a:t>To create a simple and modern user interface.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43395920"/>
                  </a:ext>
                </a:extLst>
              </a:tr>
              <a:tr h="1123959">
                <a:tc>
                  <a:txBody>
                    <a:bodyPr/>
                    <a:lstStyle/>
                    <a:p>
                      <a:pPr lvl="0">
                        <a:buNone/>
                      </a:pPr>
                      <a:r>
                        <a:rPr lang="en-US" sz="1800" b="0" i="0" u="none" strike="noStrike" noProof="0" dirty="0">
                          <a:latin typeface="Calibri" panose="020F0502020204030204" pitchFamily="34" charset="0"/>
                          <a:ea typeface="Calibri" panose="020F0502020204030204" pitchFamily="34" charset="0"/>
                          <a:cs typeface="Calibri" panose="020F0502020204030204" pitchFamily="34" charset="0"/>
                        </a:rPr>
                        <a:t>Pega Case Management</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lvl="0">
                        <a:buNone/>
                      </a:pPr>
                      <a:r>
                        <a:rPr lang="en-US" dirty="0">
                          <a:latin typeface="Calibri" panose="020F0502020204030204" pitchFamily="34" charset="0"/>
                          <a:ea typeface="Calibri" panose="020F0502020204030204" pitchFamily="34" charset="0"/>
                          <a:cs typeface="Calibri" panose="020F0502020204030204" pitchFamily="34" charset="0"/>
                        </a:rPr>
                        <a:t>To manage each step such as customer registration, service request, complaint handling, and feedback collection as separate cases for better tracking and control.</a:t>
                      </a:r>
                    </a:p>
                  </a:txBody>
                  <a:tcPr/>
                </a:tc>
                <a:extLst>
                  <a:ext uri="{0D108BD9-81ED-4DB2-BD59-A6C34878D82A}">
                    <a16:rowId xmlns:a16="http://schemas.microsoft.com/office/drawing/2014/main" val="3476959014"/>
                  </a:ext>
                </a:extLst>
              </a:tr>
              <a:tr h="864584">
                <a:tc>
                  <a:txBody>
                    <a:bodyPr/>
                    <a:lstStyle/>
                    <a:p>
                      <a:pPr lvl="0">
                        <a:buNone/>
                      </a:pPr>
                      <a:r>
                        <a:rPr lang="en-US" sz="1800" b="0" i="0" u="none" strike="noStrike" noProof="0" dirty="0">
                          <a:latin typeface="Calibri" panose="020F0502020204030204" pitchFamily="34" charset="0"/>
                          <a:ea typeface="Calibri" panose="020F0502020204030204" pitchFamily="34" charset="0"/>
                          <a:cs typeface="Calibri" panose="020F0502020204030204" pitchFamily="34" charset="0"/>
                        </a:rPr>
                        <a:t>Pega Decision Rules</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To automatically route service requests and complaints to the right department or staff member based on skill and role.</a:t>
                      </a:r>
                    </a:p>
                  </a:txBody>
                  <a:tcPr/>
                </a:tc>
                <a:extLst>
                  <a:ext uri="{0D108BD9-81ED-4DB2-BD59-A6C34878D82A}">
                    <a16:rowId xmlns:a16="http://schemas.microsoft.com/office/drawing/2014/main" val="1342614120"/>
                  </a:ext>
                </a:extLst>
              </a:tr>
              <a:tr h="605208">
                <a:tc>
                  <a:txBody>
                    <a:bodyPr/>
                    <a:lstStyle/>
                    <a:p>
                      <a:pPr lvl="0">
                        <a:buNone/>
                      </a:pPr>
                      <a:r>
                        <a:rPr lang="en-US" sz="1800" b="0" i="0" u="none" strike="noStrike" noProof="0" dirty="0">
                          <a:latin typeface="Aptos"/>
                        </a:rPr>
                        <a:t>Pega </a:t>
                      </a:r>
                      <a:r>
                        <a:rPr lang="en-US" sz="1800" b="0" i="0" u="none" strike="noStrike" noProof="0" dirty="0">
                          <a:latin typeface="Calibri" panose="020F0502020204030204" pitchFamily="34" charset="0"/>
                          <a:ea typeface="Calibri" panose="020F0502020204030204" pitchFamily="34" charset="0"/>
                          <a:cs typeface="Calibri" panose="020F0502020204030204" pitchFamily="34" charset="0"/>
                        </a:rPr>
                        <a:t>Reports</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lvl="0">
                        <a:buNone/>
                      </a:pPr>
                      <a:r>
                        <a:rPr lang="en-US" dirty="0">
                          <a:latin typeface="Calibri" panose="020F0502020204030204" pitchFamily="34" charset="0"/>
                          <a:ea typeface="Calibri" panose="020F0502020204030204" pitchFamily="34" charset="0"/>
                          <a:cs typeface="Calibri" panose="020F0502020204030204" pitchFamily="34" charset="0"/>
                        </a:rPr>
                        <a:t>To display service performance, complaint statistics, and resolution timelines in detailed reports.</a:t>
                      </a:r>
                    </a:p>
                  </a:txBody>
                  <a:tcPr/>
                </a:tc>
                <a:extLst>
                  <a:ext uri="{0D108BD9-81ED-4DB2-BD59-A6C34878D82A}">
                    <a16:rowId xmlns:a16="http://schemas.microsoft.com/office/drawing/2014/main" val="680360404"/>
                  </a:ext>
                </a:extLst>
              </a:tr>
            </a:tbl>
          </a:graphicData>
        </a:graphic>
      </p:graphicFrame>
    </p:spTree>
    <p:extLst>
      <p:ext uri="{BB962C8B-B14F-4D97-AF65-F5344CB8AC3E}">
        <p14:creationId xmlns:p14="http://schemas.microsoft.com/office/powerpoint/2010/main" val="321260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6141732" name="Image 8">
            <a:extLst>
              <a:ext uri="{FF2B5EF4-FFF2-40B4-BE49-F238E27FC236}">
                <a16:creationId xmlns:a16="http://schemas.microsoft.com/office/drawing/2014/main" id="{39E96AB3-91B3-47A2-C7C5-3C3B29B17A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2432" y="882160"/>
            <a:ext cx="5202190" cy="2890295"/>
          </a:xfrm>
          <a:prstGeom prst="rect">
            <a:avLst/>
          </a:prstGeom>
          <a:noFill/>
          <a:extLst>
            <a:ext uri="{909E8E84-426E-40DD-AFC4-6F175D3DCCD1}">
              <a14:hiddenFill xmlns:a14="http://schemas.microsoft.com/office/drawing/2010/main">
                <a:solidFill>
                  <a:srgbClr val="FFFFFF"/>
                </a:solidFill>
              </a14:hiddenFill>
            </a:ext>
          </a:extLst>
        </p:spPr>
      </p:pic>
      <p:pic>
        <p:nvPicPr>
          <p:cNvPr id="1029" name="Image 13">
            <a:extLst>
              <a:ext uri="{FF2B5EF4-FFF2-40B4-BE49-F238E27FC236}">
                <a16:creationId xmlns:a16="http://schemas.microsoft.com/office/drawing/2014/main" id="{848BE07A-8A56-C4CF-D152-FD5FD6992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200" y="4036932"/>
            <a:ext cx="50038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1">
            <a:extLst>
              <a:ext uri="{FF2B5EF4-FFF2-40B4-BE49-F238E27FC236}">
                <a16:creationId xmlns:a16="http://schemas.microsoft.com/office/drawing/2014/main" id="{261618A7-DEF4-212F-3A76-DB55F6327E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7362" y="4036932"/>
            <a:ext cx="51657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Arrow Connector 9">
            <a:extLst>
              <a:ext uri="{FF2B5EF4-FFF2-40B4-BE49-F238E27FC236}">
                <a16:creationId xmlns:a16="http://schemas.microsoft.com/office/drawing/2014/main" id="{7EAA3431-644E-B975-9B57-04B43F5891E0}"/>
              </a:ext>
            </a:extLst>
          </p:cNvPr>
          <p:cNvCxnSpPr/>
          <p:nvPr/>
        </p:nvCxnSpPr>
        <p:spPr>
          <a:xfrm flipH="1">
            <a:off x="3594100" y="1762695"/>
            <a:ext cx="2145688" cy="21593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2972707-DC24-D815-5AC6-3A9E73DAE11A}"/>
              </a:ext>
            </a:extLst>
          </p:cNvPr>
          <p:cNvCxnSpPr>
            <a:endCxn id="1030" idx="0"/>
          </p:cNvCxnSpPr>
          <p:nvPr/>
        </p:nvCxnSpPr>
        <p:spPr>
          <a:xfrm>
            <a:off x="7260116" y="3029635"/>
            <a:ext cx="1980109" cy="10072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7730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7E8825-D5DE-3194-F5E3-8932BA144D8C}"/>
              </a:ext>
            </a:extLst>
          </p:cNvPr>
          <p:cNvSpPr>
            <a:spLocks noGrp="1"/>
          </p:cNvSpPr>
          <p:nvPr>
            <p:ph idx="1"/>
          </p:nvPr>
        </p:nvSpPr>
        <p:spPr>
          <a:xfrm>
            <a:off x="342409" y="1158466"/>
            <a:ext cx="6388897" cy="3204214"/>
          </a:xfrm>
        </p:spPr>
        <p:txBody>
          <a:bodyPr vert="horz" lIns="91440" tIns="45720" rIns="91440" bIns="45720" rtlCol="0" anchor="t">
            <a:normAutofit/>
          </a:bodyPr>
          <a:lstStyle/>
          <a:p>
            <a:pPr marL="0" indent="0">
              <a:buNone/>
            </a:pPr>
            <a:r>
              <a:rPr lang="en-US" sz="3200" b="1" dirty="0">
                <a:latin typeface="Times New Roman"/>
                <a:cs typeface="Times New Roman"/>
              </a:rPr>
              <a:t>Progress  Made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Developed four main portals — </a:t>
            </a:r>
            <a:r>
              <a:rPr lang="en-US" b="1" dirty="0">
                <a:latin typeface="Calibri" panose="020F0502020204030204" pitchFamily="34" charset="0"/>
                <a:ea typeface="Calibri" panose="020F0502020204030204" pitchFamily="34" charset="0"/>
                <a:cs typeface="Calibri" panose="020F0502020204030204" pitchFamily="34" charset="0"/>
              </a:rPr>
              <a:t>Receptionist, Customer Service Executive, Trip Manager, and Food Manager</a:t>
            </a:r>
            <a:r>
              <a:rPr lang="en-US" dirty="0">
                <a:latin typeface="Calibri" panose="020F0502020204030204" pitchFamily="34" charset="0"/>
                <a:ea typeface="Calibri" panose="020F0502020204030204" pitchFamily="34" charset="0"/>
                <a:cs typeface="Calibri" panose="020F0502020204030204" pitchFamily="34" charset="0"/>
              </a:rPr>
              <a:t> — to manage service requests, complaints, and approvals efficiently within the Hospitality Management System.</a:t>
            </a: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200" b="1" dirty="0">
              <a:latin typeface="Times New Roman" panose="02020603050405020304" pitchFamily="18" charset="0"/>
              <a:cs typeface="Times New Roman" panose="02020603050405020304" pitchFamily="18" charset="0"/>
            </a:endParaRPr>
          </a:p>
          <a:p>
            <a:pPr marL="0" indent="0">
              <a:buNone/>
            </a:pPr>
            <a:endParaRPr lang="en-US"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4E0D05-30CD-5204-9081-C893FBBA17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7125" y="210712"/>
            <a:ext cx="4348300" cy="2007790"/>
          </a:xfrm>
          <a:prstGeom prst="rect">
            <a:avLst/>
          </a:prstGeom>
          <a:ln>
            <a:solidFill>
              <a:schemeClr val="tx1"/>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2A4B264-46A7-559B-EB7D-BEF3436F1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8592" y="4669293"/>
            <a:ext cx="4348301" cy="2006908"/>
          </a:xfrm>
          <a:prstGeom prst="rect">
            <a:avLst/>
          </a:prstGeom>
          <a:ln>
            <a:solidFill>
              <a:schemeClr val="tx1"/>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9F0F223-8360-497D-24F2-580904EEB4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1291" y="2446602"/>
            <a:ext cx="4348300" cy="1994591"/>
          </a:xfrm>
          <a:prstGeom prst="rect">
            <a:avLst/>
          </a:prstGeom>
          <a:ln>
            <a:solidFill>
              <a:schemeClr val="tx1"/>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6C58921D-0099-F511-3E30-D73BCEFB3F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861" y="4441193"/>
            <a:ext cx="4348299" cy="1967196"/>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2368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F260AA89-FF2F-D9E0-79A6-CE116331C4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246" y="1702951"/>
            <a:ext cx="4176712"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329BED2E-5B7C-A8A8-8497-22989EFA3E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652" y="1937997"/>
            <a:ext cx="50292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a:extLst>
              <a:ext uri="{FF2B5EF4-FFF2-40B4-BE49-F238E27FC236}">
                <a16:creationId xmlns:a16="http://schemas.microsoft.com/office/drawing/2014/main" id="{8DF79B76-6902-B39C-AB9B-4D185E2324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455140"/>
            <a:ext cx="4927600"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C1090505-FD4D-B060-5C1F-4348F3C0CA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554" y="4455141"/>
            <a:ext cx="4927600" cy="2097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Arrow Connector 6">
            <a:extLst>
              <a:ext uri="{FF2B5EF4-FFF2-40B4-BE49-F238E27FC236}">
                <a16:creationId xmlns:a16="http://schemas.microsoft.com/office/drawing/2014/main" id="{2F1F087E-BAE2-EA8B-3F7E-1784540C1326}"/>
              </a:ext>
            </a:extLst>
          </p:cNvPr>
          <p:cNvCxnSpPr/>
          <p:nvPr/>
        </p:nvCxnSpPr>
        <p:spPr>
          <a:xfrm>
            <a:off x="4858439" y="2658626"/>
            <a:ext cx="7050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2BDF420-6D03-9936-3232-536DD28CAF6C}"/>
              </a:ext>
            </a:extLst>
          </p:cNvPr>
          <p:cNvCxnSpPr/>
          <p:nvPr/>
        </p:nvCxnSpPr>
        <p:spPr>
          <a:xfrm flipH="1">
            <a:off x="4494882" y="3614301"/>
            <a:ext cx="1601118" cy="517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CC441AD-9745-2AC9-6FC9-56434D96E270}"/>
              </a:ext>
            </a:extLst>
          </p:cNvPr>
          <p:cNvCxnSpPr/>
          <p:nvPr/>
        </p:nvCxnSpPr>
        <p:spPr>
          <a:xfrm>
            <a:off x="7877060" y="3693408"/>
            <a:ext cx="0" cy="437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B756FD1-F7F2-9DCB-48AA-5D25B6430273}"/>
              </a:ext>
            </a:extLst>
          </p:cNvPr>
          <p:cNvSpPr txBox="1"/>
          <p:nvPr/>
        </p:nvSpPr>
        <p:spPr>
          <a:xfrm>
            <a:off x="339164" y="1109082"/>
            <a:ext cx="3341877" cy="461665"/>
          </a:xfrm>
          <a:prstGeom prst="rect">
            <a:avLst/>
          </a:prstGeom>
          <a:noFill/>
        </p:spPr>
        <p:txBody>
          <a:bodyPr wrap="non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Service Request Screens: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234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3547940-6401-A2B3-6D8C-778768ECB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771" y="1104860"/>
            <a:ext cx="4710248" cy="2442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3">
            <a:extLst>
              <a:ext uri="{FF2B5EF4-FFF2-40B4-BE49-F238E27FC236}">
                <a16:creationId xmlns:a16="http://schemas.microsoft.com/office/drawing/2014/main" id="{4E838563-0C2D-9F88-8AAC-873BB3B217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736" y="3824440"/>
            <a:ext cx="5118100" cy="290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a:extLst>
              <a:ext uri="{FF2B5EF4-FFF2-40B4-BE49-F238E27FC236}">
                <a16:creationId xmlns:a16="http://schemas.microsoft.com/office/drawing/2014/main" id="{AA6EA6AE-328D-4FF8-CE52-99BD9A1D9EB3}"/>
              </a:ext>
            </a:extLst>
          </p:cNvPr>
          <p:cNvCxnSpPr/>
          <p:nvPr/>
        </p:nvCxnSpPr>
        <p:spPr>
          <a:xfrm>
            <a:off x="6400800" y="3698834"/>
            <a:ext cx="95846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076" name="Picture 4">
            <a:extLst>
              <a:ext uri="{FF2B5EF4-FFF2-40B4-BE49-F238E27FC236}">
                <a16:creationId xmlns:a16="http://schemas.microsoft.com/office/drawing/2014/main" id="{BBFB0166-C353-30EF-7938-445852587D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898" y="2717016"/>
            <a:ext cx="4280439" cy="160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8692BAA-7DA1-2B84-074D-707D5BA962C2}"/>
              </a:ext>
            </a:extLst>
          </p:cNvPr>
          <p:cNvSpPr txBox="1"/>
          <p:nvPr/>
        </p:nvSpPr>
        <p:spPr>
          <a:xfrm>
            <a:off x="4678033" y="366187"/>
            <a:ext cx="2472343" cy="461665"/>
          </a:xfrm>
          <a:prstGeom prst="rect">
            <a:avLst/>
          </a:prstGeom>
          <a:noFill/>
        </p:spPr>
        <p:txBody>
          <a:bodyPr wrap="non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Approval Screens: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7891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C29FA1D6-4AFB-F745-27D0-082E184A0F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950" y="2614170"/>
            <a:ext cx="5041900"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Arrow Connector 3">
            <a:extLst>
              <a:ext uri="{FF2B5EF4-FFF2-40B4-BE49-F238E27FC236}">
                <a16:creationId xmlns:a16="http://schemas.microsoft.com/office/drawing/2014/main" id="{C067D4A9-2193-D8B8-03FE-7415B9707860}"/>
              </a:ext>
            </a:extLst>
          </p:cNvPr>
          <p:cNvCxnSpPr/>
          <p:nvPr/>
        </p:nvCxnSpPr>
        <p:spPr>
          <a:xfrm>
            <a:off x="5530462" y="4219458"/>
            <a:ext cx="6720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099" name="Picture 3">
            <a:extLst>
              <a:ext uri="{FF2B5EF4-FFF2-40B4-BE49-F238E27FC236}">
                <a16:creationId xmlns:a16="http://schemas.microsoft.com/office/drawing/2014/main" id="{5F9C805D-1F78-246F-7FA2-68AB0F01CF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136" y="2713755"/>
            <a:ext cx="5305961" cy="3169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1E72A7B-D4C2-D803-A45D-92C59A8CCB1C}"/>
              </a:ext>
            </a:extLst>
          </p:cNvPr>
          <p:cNvSpPr txBox="1"/>
          <p:nvPr/>
        </p:nvSpPr>
        <p:spPr>
          <a:xfrm>
            <a:off x="304950" y="1454226"/>
            <a:ext cx="3740191" cy="461665"/>
          </a:xfrm>
          <a:prstGeom prst="rect">
            <a:avLst/>
          </a:prstGeom>
          <a:noFill/>
        </p:spPr>
        <p:txBody>
          <a:bodyPr wrap="non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Complaint Booking Screens: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2968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F0B61B-FD9C-20A2-B005-B606286BD76B}"/>
              </a:ext>
            </a:extLst>
          </p:cNvPr>
          <p:cNvSpPr>
            <a:spLocks noGrp="1"/>
          </p:cNvSpPr>
          <p:nvPr>
            <p:ph idx="1"/>
          </p:nvPr>
        </p:nvSpPr>
        <p:spPr>
          <a:xfrm>
            <a:off x="869085" y="1248112"/>
            <a:ext cx="11042276" cy="4744330"/>
          </a:xfrm>
        </p:spPr>
        <p:txBody>
          <a:bodyPr vert="horz" lIns="91440" tIns="45720" rIns="91440" bIns="45720" rtlCol="0" anchor="t">
            <a:normAutofit/>
          </a:bodyPr>
          <a:lstStyle/>
          <a:p>
            <a:pPr marL="0" indent="0">
              <a:buNone/>
            </a:pPr>
            <a:r>
              <a:rPr lang="en-US" sz="3200" b="1" dirty="0">
                <a:latin typeface="Times New Roman"/>
                <a:cs typeface="Times New Roman"/>
              </a:rPr>
              <a:t>Challenges Faced :</a:t>
            </a:r>
          </a:p>
          <a:p>
            <a:pPr marL="0" indent="0">
              <a:buNone/>
            </a:pPr>
            <a:endParaRPr lang="en-US" dirty="0"/>
          </a:p>
          <a:p>
            <a:pPr marL="0" indent="0">
              <a:buNone/>
              <a:defRPr sz="2000"/>
            </a:pPr>
            <a:r>
              <a:rPr lang="en-US" sz="3200" dirty="0">
                <a:latin typeface="Calibri" panose="020F0502020204030204" pitchFamily="34" charset="0"/>
                <a:ea typeface="Calibri" panose="020F0502020204030204" pitchFamily="34" charset="0"/>
                <a:cs typeface="Calibri" panose="020F0502020204030204" pitchFamily="34" charset="0"/>
              </a:rPr>
              <a:t>• Designing complex case lifecycles and routing logic for complaints and services.</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 Synchronizing data between customer profiles and service records.</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 Managing different access roles for receptionists, service staff, and managers.</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 Configuring real-time notifications and SLA alerts.</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 Maintaining UI consistency across multiple user roles.</a:t>
            </a:r>
          </a:p>
          <a:p>
            <a:pPr>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buFont typeface="Arial" panose="05000000000000000000" pitchFamily="2" charset="2"/>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0160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7F092E-486F-A044-8CF2-1FF664095107}"/>
              </a:ext>
            </a:extLst>
          </p:cNvPr>
          <p:cNvSpPr>
            <a:spLocks noGrp="1"/>
          </p:cNvSpPr>
          <p:nvPr>
            <p:ph idx="1"/>
          </p:nvPr>
        </p:nvSpPr>
        <p:spPr/>
        <p:txBody>
          <a:bodyPr/>
          <a:lstStyle/>
          <a:p>
            <a:pPr marL="0" indent="0">
              <a:buNone/>
            </a:pPr>
            <a:r>
              <a:rPr lang="en-US" sz="3200" b="1" dirty="0">
                <a:latin typeface="Calibri" panose="020F0502020204030204" pitchFamily="34" charset="0"/>
                <a:ea typeface="Calibri" panose="020F0502020204030204" pitchFamily="34" charset="0"/>
                <a:cs typeface="Calibri" panose="020F0502020204030204" pitchFamily="34" charset="0"/>
              </a:rPr>
              <a:t>Conclusion: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The Hospitality Management System automates and streamlines hospitality workflows, ensuring faster service, efficient complaint handling, and improved customer satisfaction.</a:t>
            </a:r>
            <a:br>
              <a:rPr lang="en-US"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r>
              <a:rPr lang="en-US" sz="3200" b="1" dirty="0">
                <a:latin typeface="Calibri" panose="020F0502020204030204" pitchFamily="34" charset="0"/>
                <a:ea typeface="Calibri" panose="020F0502020204030204" pitchFamily="34" charset="0"/>
                <a:cs typeface="Calibri" panose="020F0502020204030204" pitchFamily="34" charset="0"/>
              </a:rPr>
              <a:t>Future Scope: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Develop mobile apps for staff and customers.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Integrate with CRM or payment systems.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Implement AI-based smart routing.</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Enhance analytics and reporting capabilities.</a:t>
            </a:r>
          </a:p>
          <a:p>
            <a:endParaRPr lang="en-IN" dirty="0"/>
          </a:p>
        </p:txBody>
      </p:sp>
    </p:spTree>
    <p:extLst>
      <p:ext uri="{BB962C8B-B14F-4D97-AF65-F5344CB8AC3E}">
        <p14:creationId xmlns:p14="http://schemas.microsoft.com/office/powerpoint/2010/main" val="3533902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1A0A73-41A8-F13B-AF1E-F5DF90C6B1D3}"/>
              </a:ext>
            </a:extLst>
          </p:cNvPr>
          <p:cNvSpPr>
            <a:spLocks noGrp="1"/>
          </p:cNvSpPr>
          <p:nvPr>
            <p:ph idx="1"/>
          </p:nvPr>
        </p:nvSpPr>
        <p:spPr>
          <a:xfrm>
            <a:off x="869085" y="2816934"/>
            <a:ext cx="10515600" cy="3276361"/>
          </a:xfrm>
        </p:spPr>
        <p:txBody>
          <a:bodyPr vert="horz" lIns="91440" tIns="45720" rIns="91440" bIns="45720" rtlCol="0" anchor="t">
            <a:normAutofit/>
          </a:bodyPr>
          <a:lstStyle/>
          <a:p>
            <a:pPr marL="0" indent="0" algn="ctr">
              <a:buNone/>
            </a:pPr>
            <a:r>
              <a:rPr lang="en-US" sz="5400" b="1" dirty="0">
                <a:solidFill>
                  <a:schemeClr val="tx2">
                    <a:lumMod val="49000"/>
                    <a:lumOff val="51000"/>
                  </a:schemeClr>
                </a:solidFill>
                <a:latin typeface="Times New Roman"/>
                <a:cs typeface="Times New Roman"/>
              </a:rPr>
              <a:t>THANK YOU</a:t>
            </a:r>
          </a:p>
        </p:txBody>
      </p:sp>
    </p:spTree>
    <p:extLst>
      <p:ext uri="{BB962C8B-B14F-4D97-AF65-F5344CB8AC3E}">
        <p14:creationId xmlns:p14="http://schemas.microsoft.com/office/powerpoint/2010/main" val="3630026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TotalTime>
  <Words>590</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Abadi</vt:lpstr>
      <vt:lpstr>Aptos</vt:lpstr>
      <vt:lpstr>Aptos Display</vt:lpstr>
      <vt:lpstr>Arial</vt:lpstr>
      <vt:lpstr>Arial Rounded MT Bold</vt:lpstr>
      <vt:lpstr>Arial,Sans-Serif</vt:lpstr>
      <vt:lpstr>Calibri</vt:lpstr>
      <vt:lpstr>Times New Roman</vt:lpstr>
      <vt:lpstr>Wingdings</vt:lpstr>
      <vt:lpstr>Office Theme</vt:lpstr>
      <vt:lpstr>PowerPoint Presentation</vt:lpstr>
      <vt:lpstr>   </vt:lpstr>
      <vt:lpstr>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Siddardha K</dc:creator>
  <cp:lastModifiedBy>Vinitha Sri Prathipati</cp:lastModifiedBy>
  <cp:revision>315</cp:revision>
  <dcterms:created xsi:type="dcterms:W3CDTF">2025-08-01T04:16:23Z</dcterms:created>
  <dcterms:modified xsi:type="dcterms:W3CDTF">2025-10-18T05:29:36Z</dcterms:modified>
</cp:coreProperties>
</file>